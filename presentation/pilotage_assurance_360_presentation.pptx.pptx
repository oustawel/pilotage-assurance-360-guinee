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65C8C-905A-F654-A636-F75321DB80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827048-1CE5-6E21-E004-887A022424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5419F-4C64-4EB0-0721-3FB2CD297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D38E2-4D69-4EAA-A9C4-0E36C290FD17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FC60F-7F78-69D3-A368-792A87A44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D2637-0F35-89AC-1133-BD3950C48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436E2-9D14-485A-92B6-D9CA1ED24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567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1DF73-1176-AADA-8752-64BA0907C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B193D-A8AC-A46C-132F-4CB330028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B77B4-8E26-2271-CA34-A278171BD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D38E2-4D69-4EAA-A9C4-0E36C290FD17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DC291-FE6B-45C2-EA48-F6E0AB9F2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705DA-FFF1-805C-4C48-EED2B986D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436E2-9D14-485A-92B6-D9CA1ED24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352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19E57-EEEF-90F6-8318-EBEC4EA87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1B360-1554-DC4D-E524-BC6531FEB8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AE2B3-FCCB-559C-D5F1-1742279BF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D38E2-4D69-4EAA-A9C4-0E36C290FD17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0DCA0-3CD3-7AF6-13DD-988631DEE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4AAD4-A87F-1C33-C7B3-93858DE7A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436E2-9D14-485A-92B6-D9CA1ED24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239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2D154-FE1B-32AE-B121-515386FAE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6E27C-CBFD-647B-97FD-F3E545C50B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A33784-3D01-0AA5-2B2F-356B7BDC3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EEEE55-D64D-52B5-3B77-E2A63AC79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D38E2-4D69-4EAA-A9C4-0E36C290FD17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13C57A-82A9-DDC1-AFD0-7E1EA3DBA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4B06DE-369B-9329-6619-7C63F6599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436E2-9D14-485A-92B6-D9CA1ED24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631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F38BF-54B2-5D32-B78A-7BAEBF0C7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C2AA4-25B2-0875-505F-97810208F2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DE45D7-94EB-E2E9-7DE9-6AD2619597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D4744E-4069-1E4D-8860-FB57718234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CAFF22-E706-501F-3983-D5F2339DA3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981F36-B607-F230-749E-AE6A6E83D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D38E2-4D69-4EAA-A9C4-0E36C290FD17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7A6A1E-B2E5-1046-230A-9B80FD21C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FDC014-728E-31EE-5530-ECE603A15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436E2-9D14-485A-92B6-D9CA1ED24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519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5C53D-A74B-9644-0D15-E31D9B3F6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7DF676-3017-9BDB-1A9E-9EA5AF3B1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D38E2-4D69-4EAA-A9C4-0E36C290FD17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C26932-A876-0187-EEFA-C9E070B13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1C422A-CD7C-456B-5206-BD2B16618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436E2-9D14-485A-92B6-D9CA1ED24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322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1B2843-42E8-5268-4411-E7A8EBBAE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D38E2-4D69-4EAA-A9C4-0E36C290FD17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DEB63C-7D8E-9ED8-B892-FD9F6F3CF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6AC8A-05E2-C05F-DA8E-5451A14D5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436E2-9D14-485A-92B6-D9CA1ED24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885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3D810-0C0F-7F89-8CC1-7F02F6CD9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6516F-F931-9D62-986D-2CD112FF1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9B8375-882D-3957-2E48-743806CC0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40C087-DF8C-B789-58D0-BBDE73A11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D38E2-4D69-4EAA-A9C4-0E36C290FD17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E3BD09-9B9D-B962-371B-A760DB729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D5B37B-0551-742F-6798-B24E9CB2C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436E2-9D14-485A-92B6-D9CA1ED24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167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FBF7C-65F9-A2E1-1E72-0B594506F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D7C694-9F24-8578-7405-7E1F18639E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376BF2-6955-850E-16BA-436544D814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BA78DE-0CA4-7FA9-7C97-6B0CF6FF5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D38E2-4D69-4EAA-A9C4-0E36C290FD17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703F0-EE31-FE9C-F9E6-D8EF6ED82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78186A-FAC1-A4E8-7693-2A43C210A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436E2-9D14-485A-92B6-D9CA1ED24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102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597A8-D391-456B-D69E-7B531C9E5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3A9DC1-EA25-112C-390A-B82C173045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6606B-7F1E-3ED3-AA80-865057B17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D38E2-4D69-4EAA-A9C4-0E36C290FD17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6F469-9868-875C-C18C-927BA557F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7F313-B75B-8181-3F53-9BD7ABBEE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436E2-9D14-485A-92B6-D9CA1ED24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324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E90997-AAED-F48B-C4DD-56C443DA5B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38E9DD-12AF-63FB-5D7B-EF6EE341F7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C57A4-A7FD-3DBE-6157-9BB63DCD0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D38E2-4D69-4EAA-A9C4-0E36C290FD17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8FE17-D600-7300-9888-6F36181C6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F85D6-78BA-DAD2-D3B3-BA1657F8D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436E2-9D14-485A-92B6-D9CA1ED24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474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86FC8-28EC-2C37-FCCB-6C46177F0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9DED76-F2F7-8EAE-EB94-CB550B23EE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19C29-FFA1-166E-BD99-81162BC1B3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2D38E2-4D69-4EAA-A9C4-0E36C290FD17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43BD2-42D7-2E7B-0A94-6A950D38D2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BBEFAF-905F-2F93-EA02-A3B5399394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6436E2-9D14-485A-92B6-D9CA1ED24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093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915229-45C2-0B88-84D6-35CB07629F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903" y="3399769"/>
            <a:ext cx="10640754" cy="775845"/>
          </a:xfrm>
        </p:spPr>
        <p:txBody>
          <a:bodyPr anchor="b">
            <a:normAutofit/>
          </a:bodyPr>
          <a:lstStyle/>
          <a:p>
            <a:r>
              <a:rPr lang="en-US" sz="4000">
                <a:solidFill>
                  <a:schemeClr val="tx2"/>
                </a:solidFill>
              </a:rPr>
              <a:t>Pilotage Assurance 360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2AA5F9-ED39-E0F7-30FF-AD48657576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4121" y="4900194"/>
            <a:ext cx="9163757" cy="450447"/>
          </a:xfrm>
        </p:spPr>
        <p:txBody>
          <a:bodyPr anchor="ctr">
            <a:noAutofit/>
          </a:bodyPr>
          <a:lstStyle/>
          <a:p>
            <a:r>
              <a:rPr lang="fr-FR" sz="2000" dirty="0">
                <a:solidFill>
                  <a:schemeClr val="tx2"/>
                </a:solidFill>
              </a:rPr>
              <a:t>Tableau de bord Power BI pour suivre les primes, sinistres, clients, produits et agences</a:t>
            </a:r>
          </a:p>
          <a:p>
            <a:endParaRPr lang="en-US" sz="2000" dirty="0">
              <a:solidFill>
                <a:schemeClr val="tx2"/>
              </a:solidFill>
            </a:endParaRPr>
          </a:p>
          <a:p>
            <a:r>
              <a:rPr lang="fr-FR" sz="2000" dirty="0">
                <a:solidFill>
                  <a:schemeClr val="tx2"/>
                </a:solidFill>
              </a:rPr>
              <a:t>Projet portfolio | Données fictives | Guinée | Power BI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49763532-3685-A0ED-EE7D-85F47E89F3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9760" y="320231"/>
            <a:ext cx="8531027" cy="2836567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83128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FD822-C139-AE61-B3E2-0AA38E72A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fr-FR" sz="3100"/>
              <a:t>Une compagnie d’assurance doit piloter croissance, rentabilité et risque</a:t>
            </a:r>
            <a:endParaRPr lang="en-US" sz="31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D94899-9EAE-F20F-AAA6-E8795C6BE4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67"/>
          <a:stretch>
            <a:fillRect/>
          </a:stretch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B2766-F9E4-F514-05BA-5EC2DB1BB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982" y="3752850"/>
            <a:ext cx="7485413" cy="245268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FR" sz="1800"/>
              <a:t>L’objectif est d’aider une compagnie d’assurance à comprendre quels produits, clients, agences et canaux contribuent le plus à la performance, tout en surveillant la pression des sinistres et le renouvellement des contrats.</a:t>
            </a: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6360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505F9-AB77-DFED-E7CE-DE2F05730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rgbClr val="002060"/>
                </a:solidFill>
              </a:rPr>
              <a:t>Un modèle de données structuré autour des contrats, clients, produits et sinistres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E09F5-D7D1-5ACE-33B3-0E4514E3A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79415"/>
            <a:ext cx="10515600" cy="4351338"/>
          </a:xfrm>
        </p:spPr>
        <p:txBody>
          <a:bodyPr numCol="2">
            <a:normAutofit fontScale="92500" lnSpcReduction="20000"/>
          </a:bodyPr>
          <a:lstStyle/>
          <a:p>
            <a:r>
              <a:rPr lang="fr-FR" dirty="0"/>
              <a:t>Tables utilisées :</a:t>
            </a:r>
          </a:p>
          <a:p>
            <a:r>
              <a:rPr lang="fr-FR" dirty="0"/>
              <a:t> Contrats</a:t>
            </a:r>
          </a:p>
          <a:p>
            <a:r>
              <a:rPr lang="fr-FR" dirty="0"/>
              <a:t>  Clients</a:t>
            </a:r>
          </a:p>
          <a:p>
            <a:r>
              <a:rPr lang="fr-FR" dirty="0"/>
              <a:t>  Produits</a:t>
            </a:r>
          </a:p>
          <a:p>
            <a:r>
              <a:rPr lang="fr-FR" dirty="0"/>
              <a:t>  Sinistres</a:t>
            </a:r>
          </a:p>
          <a:p>
            <a:r>
              <a:rPr lang="fr-FR" dirty="0"/>
              <a:t>  Agences</a:t>
            </a:r>
          </a:p>
          <a:p>
            <a:r>
              <a:rPr lang="fr-FR" dirty="0"/>
              <a:t>  Agents</a:t>
            </a:r>
          </a:p>
          <a:p>
            <a:r>
              <a:rPr lang="fr-FR" dirty="0"/>
              <a:t>  Objectifs</a:t>
            </a:r>
          </a:p>
          <a:p>
            <a:r>
              <a:rPr lang="fr-FR" dirty="0"/>
              <a:t>  Calendrier</a:t>
            </a:r>
          </a:p>
          <a:p>
            <a:endParaRPr lang="fr-FR" dirty="0"/>
          </a:p>
          <a:p>
            <a:r>
              <a:rPr lang="fr-FR" dirty="0"/>
              <a:t>Outil principal :</a:t>
            </a:r>
          </a:p>
          <a:p>
            <a:r>
              <a:rPr lang="fr-FR" dirty="0"/>
              <a:t> Power BI</a:t>
            </a:r>
          </a:p>
          <a:p>
            <a:endParaRPr lang="fr-FR" dirty="0"/>
          </a:p>
          <a:p>
            <a:r>
              <a:rPr lang="fr-FR" dirty="0"/>
              <a:t>Indicateurs clés :</a:t>
            </a:r>
          </a:p>
          <a:p>
            <a:r>
              <a:rPr lang="fr-FR" dirty="0"/>
              <a:t> Primes</a:t>
            </a:r>
          </a:p>
          <a:p>
            <a:r>
              <a:rPr lang="fr-FR" dirty="0"/>
              <a:t> Sinistres réglés</a:t>
            </a:r>
          </a:p>
          <a:p>
            <a:r>
              <a:rPr lang="fr-FR" dirty="0"/>
              <a:t> Ratio sinistres/primes</a:t>
            </a:r>
          </a:p>
          <a:p>
            <a:r>
              <a:rPr lang="fr-FR" dirty="0"/>
              <a:t> Marge estimée</a:t>
            </a:r>
          </a:p>
          <a:p>
            <a:r>
              <a:rPr lang="fr-FR" dirty="0"/>
              <a:t> Taux de renouvellement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7C0076-92A9-BE3B-8AD8-EEECBF2978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878" y="6036529"/>
            <a:ext cx="2522366" cy="840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479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87750D-401E-D15B-899C-8D8C2C17B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Le </a:t>
            </a:r>
            <a:r>
              <a:rPr lang="en-US" sz="30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portefeuille</a:t>
            </a:r>
            <a:r>
              <a:rPr lang="en-US" sz="3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affiche </a:t>
            </a:r>
            <a:r>
              <a:rPr lang="en-US" sz="30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une</a:t>
            </a:r>
            <a:r>
              <a:rPr lang="en-US" sz="3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performance </a:t>
            </a:r>
            <a:r>
              <a:rPr lang="en-US" sz="30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globale</a:t>
            </a:r>
            <a:r>
              <a:rPr lang="en-US" sz="3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rentable et </a:t>
            </a:r>
            <a:r>
              <a:rPr lang="en-US" sz="30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maîtrisée</a:t>
            </a:r>
            <a:endParaRPr lang="en-US" sz="3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E400F3-CE01-F605-6E15-87C9F54D77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884" y="1675227"/>
            <a:ext cx="8922231" cy="43941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9A8EE9-F868-5883-CF99-F2252487705C}"/>
              </a:ext>
            </a:extLst>
          </p:cNvPr>
          <p:cNvSpPr txBox="1"/>
          <p:nvPr/>
        </p:nvSpPr>
        <p:spPr>
          <a:xfrm>
            <a:off x="235789" y="6206248"/>
            <a:ext cx="119169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Le </a:t>
            </a:r>
            <a:r>
              <a:rPr lang="en-US" dirty="0" err="1"/>
              <a:t>portefeuille</a:t>
            </a:r>
            <a:r>
              <a:rPr lang="en-US" dirty="0"/>
              <a:t> </a:t>
            </a:r>
            <a:r>
              <a:rPr lang="en-US" dirty="0" err="1"/>
              <a:t>génère</a:t>
            </a:r>
            <a:r>
              <a:rPr lang="en-US" dirty="0"/>
              <a:t> environ 77 Md GNF de primes, avec </a:t>
            </a:r>
            <a:r>
              <a:rPr lang="en-US" dirty="0" err="1"/>
              <a:t>une</a:t>
            </a:r>
            <a:r>
              <a:rPr lang="en-US" dirty="0"/>
              <a:t> marge </a:t>
            </a:r>
            <a:r>
              <a:rPr lang="en-US" dirty="0" err="1"/>
              <a:t>estimée</a:t>
            </a:r>
            <a:r>
              <a:rPr lang="en-US" dirty="0"/>
              <a:t> de 64 Md GNF et un ratio </a:t>
            </a:r>
            <a:r>
              <a:rPr lang="en-US" dirty="0" err="1"/>
              <a:t>sinistres</a:t>
            </a:r>
            <a:r>
              <a:rPr lang="en-US" dirty="0"/>
              <a:t>/primes de 5,78 %, </a:t>
            </a:r>
            <a:r>
              <a:rPr lang="en-US" dirty="0" err="1"/>
              <a:t>indiquant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pression </a:t>
            </a:r>
            <a:r>
              <a:rPr lang="en-US" dirty="0" err="1"/>
              <a:t>sinistres</a:t>
            </a:r>
            <a:r>
              <a:rPr lang="en-US" dirty="0"/>
              <a:t> </a:t>
            </a:r>
            <a:r>
              <a:rPr lang="en-US" dirty="0" err="1"/>
              <a:t>globalement</a:t>
            </a:r>
            <a:r>
              <a:rPr lang="en-US" dirty="0"/>
              <a:t> </a:t>
            </a:r>
            <a:r>
              <a:rPr lang="en-US" dirty="0" err="1"/>
              <a:t>maîtrisée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80948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FB369-B0C7-AD29-D207-78D33012D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Multirisque Professionnelle et Entreprise tirent la valeur, Auto et Santé concentrent le risque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B3A29F-4100-BEB3-737C-CB6A8C2735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9129" y="1675227"/>
            <a:ext cx="9013741" cy="43941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E8E327-CBC7-A0FC-1576-67C8658C86B3}"/>
              </a:ext>
            </a:extLst>
          </p:cNvPr>
          <p:cNvSpPr txBox="1"/>
          <p:nvPr/>
        </p:nvSpPr>
        <p:spPr>
          <a:xfrm>
            <a:off x="244119" y="6206248"/>
            <a:ext cx="118357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00B050"/>
                </a:solidFill>
              </a:rPr>
              <a:t>Les </a:t>
            </a:r>
            <a:r>
              <a:rPr lang="en-US" b="1" dirty="0" err="1">
                <a:solidFill>
                  <a:srgbClr val="00B050"/>
                </a:solidFill>
              </a:rPr>
              <a:t>produits</a:t>
            </a: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en-US" b="1" dirty="0" err="1">
                <a:solidFill>
                  <a:srgbClr val="00B050"/>
                </a:solidFill>
              </a:rPr>
              <a:t>Multirisque</a:t>
            </a: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en-US" b="1" dirty="0" err="1">
                <a:solidFill>
                  <a:srgbClr val="00B050"/>
                </a:solidFill>
              </a:rPr>
              <a:t>Professionnelle</a:t>
            </a:r>
            <a:r>
              <a:rPr lang="en-US" b="1" dirty="0">
                <a:solidFill>
                  <a:srgbClr val="00B050"/>
                </a:solidFill>
              </a:rPr>
              <a:t> et </a:t>
            </a:r>
            <a:r>
              <a:rPr lang="en-US" b="1" dirty="0" err="1">
                <a:solidFill>
                  <a:srgbClr val="00B050"/>
                </a:solidFill>
              </a:rPr>
              <a:t>Entreprise</a:t>
            </a: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en-US" b="1" dirty="0" err="1">
                <a:solidFill>
                  <a:srgbClr val="00B050"/>
                </a:solidFill>
              </a:rPr>
              <a:t>sont</a:t>
            </a:r>
            <a:r>
              <a:rPr lang="en-US" b="1" dirty="0">
                <a:solidFill>
                  <a:srgbClr val="00B050"/>
                </a:solidFill>
              </a:rPr>
              <a:t> les </a:t>
            </a:r>
            <a:r>
              <a:rPr lang="en-US" b="1" dirty="0" err="1">
                <a:solidFill>
                  <a:srgbClr val="00B050"/>
                </a:solidFill>
              </a:rPr>
              <a:t>principaux</a:t>
            </a: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en-US" b="1" dirty="0" err="1">
                <a:solidFill>
                  <a:srgbClr val="00B050"/>
                </a:solidFill>
              </a:rPr>
              <a:t>moteurs</a:t>
            </a: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en-US" dirty="0"/>
              <a:t>de primes et de marge. En revanche, Auto et Santé </a:t>
            </a:r>
            <a:r>
              <a:rPr lang="en-US" dirty="0" err="1"/>
              <a:t>affichent</a:t>
            </a:r>
            <a:r>
              <a:rPr lang="en-US" dirty="0"/>
              <a:t> les ratios </a:t>
            </a:r>
            <a:r>
              <a:rPr lang="en-US" dirty="0" err="1"/>
              <a:t>sinistres</a:t>
            </a:r>
            <a:r>
              <a:rPr lang="en-US" dirty="0"/>
              <a:t>/primes les plus </a:t>
            </a:r>
            <a:r>
              <a:rPr lang="en-US" dirty="0" err="1"/>
              <a:t>élevés</a:t>
            </a:r>
            <a:r>
              <a:rPr lang="en-US" dirty="0"/>
              <a:t> et </a:t>
            </a:r>
            <a:r>
              <a:rPr lang="en-US" dirty="0" err="1"/>
              <a:t>doivent</a:t>
            </a:r>
            <a:r>
              <a:rPr lang="en-US" dirty="0"/>
              <a:t> </a:t>
            </a:r>
            <a:r>
              <a:rPr lang="en-US" dirty="0" err="1"/>
              <a:t>être</a:t>
            </a:r>
            <a:r>
              <a:rPr lang="en-US" dirty="0"/>
              <a:t> </a:t>
            </a:r>
            <a:r>
              <a:rPr lang="en-US" dirty="0" err="1"/>
              <a:t>surveillés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priorité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3921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96D08F-12A1-9EF0-4203-21618BC29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547815"/>
            <a:ext cx="5167185" cy="1680519"/>
          </a:xfrm>
        </p:spPr>
        <p:txBody>
          <a:bodyPr>
            <a:normAutofit fontScale="90000"/>
          </a:bodyPr>
          <a:lstStyle/>
          <a:p>
            <a:pPr algn="just"/>
            <a:r>
              <a:rPr lang="fr-FR" sz="3400" b="1" dirty="0">
                <a:solidFill>
                  <a:srgbClr val="002060"/>
                </a:solidFill>
              </a:rPr>
              <a:t>Les particuliers apportent du volume, mais nécessitent une surveillance renforcée</a:t>
            </a:r>
            <a:endParaRPr lang="en-US" sz="3400" b="1" dirty="0">
              <a:solidFill>
                <a:srgbClr val="00206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7A3CFE-DAA5-7A11-DE52-69B211E1FE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54" y="2591006"/>
            <a:ext cx="5949029" cy="29298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88430E-97B4-593A-2E4D-026D10FB46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8394" y="2591005"/>
            <a:ext cx="5949027" cy="29298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D23AF7B-9C3A-BC4A-53CA-4E944E1018C9}"/>
              </a:ext>
            </a:extLst>
          </p:cNvPr>
          <p:cNvSpPr txBox="1"/>
          <p:nvPr/>
        </p:nvSpPr>
        <p:spPr>
          <a:xfrm>
            <a:off x="428272" y="5987019"/>
            <a:ext cx="117606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Les </a:t>
            </a:r>
            <a:r>
              <a:rPr lang="en-US" dirty="0" err="1"/>
              <a:t>particuliers</a:t>
            </a:r>
            <a:r>
              <a:rPr lang="en-US" dirty="0"/>
              <a:t> </a:t>
            </a:r>
            <a:r>
              <a:rPr lang="en-US" dirty="0" err="1"/>
              <a:t>génèrent</a:t>
            </a:r>
            <a:r>
              <a:rPr lang="en-US" dirty="0"/>
              <a:t> le plus grand volume de primes,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affichent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pression </a:t>
            </a:r>
            <a:r>
              <a:rPr lang="en-US" dirty="0" err="1"/>
              <a:t>sinistres</a:t>
            </a:r>
            <a:r>
              <a:rPr lang="en-US" dirty="0"/>
              <a:t> plus </a:t>
            </a:r>
            <a:r>
              <a:rPr lang="en-US" dirty="0" err="1"/>
              <a:t>élevée</a:t>
            </a:r>
            <a:r>
              <a:rPr lang="en-US" dirty="0"/>
              <a:t> et un </a:t>
            </a:r>
            <a:r>
              <a:rPr lang="en-US" dirty="0" err="1"/>
              <a:t>renouvellement</a:t>
            </a:r>
            <a:r>
              <a:rPr lang="en-US" dirty="0"/>
              <a:t> plus </a:t>
            </a:r>
            <a:r>
              <a:rPr lang="en-US" dirty="0" err="1"/>
              <a:t>faible</a:t>
            </a:r>
            <a:r>
              <a:rPr lang="en-US" dirty="0"/>
              <a:t>. Les segments </a:t>
            </a:r>
            <a:r>
              <a:rPr lang="en-US" dirty="0" err="1"/>
              <a:t>professionnels</a:t>
            </a:r>
            <a:r>
              <a:rPr lang="en-US" dirty="0"/>
              <a:t> </a:t>
            </a:r>
            <a:r>
              <a:rPr lang="en-US" dirty="0" err="1"/>
              <a:t>semblent</a:t>
            </a:r>
            <a:r>
              <a:rPr lang="en-US" dirty="0"/>
              <a:t> plus </a:t>
            </a:r>
            <a:r>
              <a:rPr lang="en-US" dirty="0" err="1"/>
              <a:t>intéressants</a:t>
            </a:r>
            <a:r>
              <a:rPr lang="en-US" dirty="0"/>
              <a:t> pour la </a:t>
            </a:r>
            <a:r>
              <a:rPr lang="en-US" dirty="0" err="1"/>
              <a:t>valeur</a:t>
            </a:r>
            <a:r>
              <a:rPr lang="en-US" dirty="0"/>
              <a:t> long </a:t>
            </a:r>
            <a:r>
              <a:rPr lang="en-US" dirty="0" err="1"/>
              <a:t>terme</a:t>
            </a:r>
            <a:r>
              <a:rPr lang="en-US" dirty="0"/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9DE6BA-6E9A-0EB7-9951-0723201408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215" y="-5751"/>
            <a:ext cx="4967287" cy="165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108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14BB1E-D01B-95EE-3425-BABB25D5C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5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Conakry domine la performance commerciale, avec Kaloum comme moteur principal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C879852-D5AA-703B-F8E1-FD4011A186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884" y="1675227"/>
            <a:ext cx="8922231" cy="43941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E7E5058-3541-7358-A1EB-D1C5D64BDAB8}"/>
              </a:ext>
            </a:extLst>
          </p:cNvPr>
          <p:cNvSpPr txBox="1"/>
          <p:nvPr/>
        </p:nvSpPr>
        <p:spPr>
          <a:xfrm>
            <a:off x="250024" y="6206248"/>
            <a:ext cx="118239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00B050"/>
                </a:solidFill>
              </a:rPr>
              <a:t>Les </a:t>
            </a:r>
            <a:r>
              <a:rPr lang="en-US" b="1" dirty="0" err="1">
                <a:solidFill>
                  <a:srgbClr val="00B050"/>
                </a:solidFill>
              </a:rPr>
              <a:t>agences</a:t>
            </a:r>
            <a:r>
              <a:rPr lang="en-US" b="1" dirty="0">
                <a:solidFill>
                  <a:srgbClr val="00B050"/>
                </a:solidFill>
              </a:rPr>
              <a:t> de Conakry </a:t>
            </a:r>
            <a:r>
              <a:rPr lang="en-US" b="1" dirty="0" err="1">
                <a:solidFill>
                  <a:srgbClr val="00B050"/>
                </a:solidFill>
              </a:rPr>
              <a:t>concentrent</a:t>
            </a:r>
            <a:r>
              <a:rPr lang="en-US" b="1" dirty="0">
                <a:solidFill>
                  <a:srgbClr val="00B050"/>
                </a:solidFill>
              </a:rPr>
              <a:t> la </a:t>
            </a:r>
            <a:r>
              <a:rPr lang="en-US" b="1" dirty="0" err="1">
                <a:solidFill>
                  <a:srgbClr val="00B050"/>
                </a:solidFill>
              </a:rPr>
              <a:t>majorité</a:t>
            </a:r>
            <a:r>
              <a:rPr lang="en-US" b="1" dirty="0">
                <a:solidFill>
                  <a:srgbClr val="00B050"/>
                </a:solidFill>
              </a:rPr>
              <a:t> de la performance </a:t>
            </a:r>
            <a:r>
              <a:rPr lang="en-US" b="1" dirty="0" err="1">
                <a:solidFill>
                  <a:srgbClr val="00B050"/>
                </a:solidFill>
              </a:rPr>
              <a:t>commerciale</a:t>
            </a:r>
            <a:r>
              <a:rPr lang="en-US" dirty="0"/>
              <a:t>. Les </a:t>
            </a:r>
            <a:r>
              <a:rPr lang="en-US" dirty="0" err="1"/>
              <a:t>canaux</a:t>
            </a:r>
            <a:r>
              <a:rPr lang="en-US" dirty="0"/>
              <a:t> </a:t>
            </a:r>
            <a:r>
              <a:rPr lang="en-US" dirty="0" err="1"/>
              <a:t>Partenaire</a:t>
            </a:r>
            <a:r>
              <a:rPr lang="en-US" dirty="0"/>
              <a:t> </a:t>
            </a:r>
            <a:r>
              <a:rPr lang="en-US" dirty="0" err="1"/>
              <a:t>bancaire</a:t>
            </a:r>
            <a:r>
              <a:rPr lang="en-US" dirty="0"/>
              <a:t>, Agence et Courtier </a:t>
            </a:r>
            <a:r>
              <a:rPr lang="en-US" dirty="0" err="1"/>
              <a:t>génèrent</a:t>
            </a:r>
            <a:r>
              <a:rPr lang="en-US" dirty="0"/>
              <a:t> le plus de primes, </a:t>
            </a:r>
            <a:r>
              <a:rPr lang="en-US" dirty="0" err="1"/>
              <a:t>tandis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Courtier et </a:t>
            </a:r>
            <a:r>
              <a:rPr lang="en-US" dirty="0" err="1"/>
              <a:t>Partenaire</a:t>
            </a:r>
            <a:r>
              <a:rPr lang="en-US" dirty="0"/>
              <a:t> </a:t>
            </a:r>
            <a:r>
              <a:rPr lang="en-US" dirty="0" err="1"/>
              <a:t>bancaire</a:t>
            </a:r>
            <a:r>
              <a:rPr lang="en-US" dirty="0"/>
              <a:t> </a:t>
            </a:r>
            <a:r>
              <a:rPr lang="en-US" dirty="0" err="1"/>
              <a:t>fidélisent</a:t>
            </a:r>
            <a:r>
              <a:rPr lang="en-US" dirty="0"/>
              <a:t> le </a:t>
            </a:r>
            <a:r>
              <a:rPr lang="en-US" dirty="0" err="1"/>
              <a:t>mieux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7718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4281C-012A-B2DE-C0D0-AA12B54E7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rgbClr val="002060"/>
                </a:solidFill>
              </a:rPr>
              <a:t>Prioriser les produits, segments et canaux à forte valeur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D6493-45A0-D869-C066-B62374C82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4637"/>
            <a:ext cx="10515600" cy="4351338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fr-FR" dirty="0"/>
              <a:t>1. </a:t>
            </a:r>
            <a:r>
              <a:rPr lang="fr-FR" b="1" dirty="0">
                <a:solidFill>
                  <a:srgbClr val="00B050"/>
                </a:solidFill>
              </a:rPr>
              <a:t>Surveiller les produits Auto et Santé</a:t>
            </a:r>
            <a:r>
              <a:rPr lang="fr-FR" dirty="0"/>
              <a:t>, qui présentent les ratios sinistres/primes les plus élevés.</a:t>
            </a:r>
          </a:p>
          <a:p>
            <a:pPr algn="just"/>
            <a:endParaRPr lang="fr-FR" dirty="0"/>
          </a:p>
          <a:p>
            <a:pPr marL="0" indent="0" algn="just">
              <a:buNone/>
            </a:pPr>
            <a:r>
              <a:rPr lang="fr-FR" dirty="0"/>
              <a:t>2. </a:t>
            </a:r>
            <a:r>
              <a:rPr lang="fr-FR" b="1" dirty="0">
                <a:solidFill>
                  <a:srgbClr val="00B050"/>
                </a:solidFill>
              </a:rPr>
              <a:t>Capitaliser sur Multirisque Professionnelle et Entreprise</a:t>
            </a:r>
            <a:r>
              <a:rPr lang="fr-FR" dirty="0"/>
              <a:t>, qui contribuent fortement aux primes et à la marge.</a:t>
            </a:r>
          </a:p>
          <a:p>
            <a:pPr algn="just"/>
            <a:endParaRPr lang="fr-FR" dirty="0"/>
          </a:p>
          <a:p>
            <a:pPr marL="0" indent="0" algn="just">
              <a:buNone/>
            </a:pPr>
            <a:r>
              <a:rPr lang="fr-FR" dirty="0"/>
              <a:t>3. </a:t>
            </a:r>
            <a:r>
              <a:rPr lang="fr-FR" b="1" dirty="0">
                <a:solidFill>
                  <a:srgbClr val="00B050"/>
                </a:solidFill>
              </a:rPr>
              <a:t>Développer les segments Professionnel, PME et Grande Entreprise </a:t>
            </a:r>
            <a:r>
              <a:rPr lang="fr-FR" dirty="0"/>
              <a:t>pour renforcer la valeur long terme.</a:t>
            </a:r>
          </a:p>
          <a:p>
            <a:pPr algn="just"/>
            <a:endParaRPr lang="fr-FR" dirty="0"/>
          </a:p>
          <a:p>
            <a:pPr marL="0" indent="0" algn="just">
              <a:buNone/>
            </a:pPr>
            <a:r>
              <a:rPr lang="fr-FR" dirty="0"/>
              <a:t>4. </a:t>
            </a:r>
            <a:r>
              <a:rPr lang="fr-FR" b="1" dirty="0">
                <a:solidFill>
                  <a:srgbClr val="00B050"/>
                </a:solidFill>
              </a:rPr>
              <a:t>Renforcer les agences régionales</a:t>
            </a:r>
            <a:r>
              <a:rPr lang="fr-FR" dirty="0"/>
              <a:t> afin de réduire la dépendance aux agences de Conakry.</a:t>
            </a:r>
          </a:p>
          <a:p>
            <a:pPr algn="just"/>
            <a:endParaRPr lang="fr-FR" dirty="0"/>
          </a:p>
          <a:p>
            <a:pPr marL="0" indent="0" algn="just">
              <a:buNone/>
            </a:pPr>
            <a:r>
              <a:rPr lang="fr-FR" dirty="0"/>
              <a:t>5. </a:t>
            </a:r>
            <a:r>
              <a:rPr lang="fr-FR" b="1" dirty="0">
                <a:solidFill>
                  <a:srgbClr val="00B050"/>
                </a:solidFill>
              </a:rPr>
              <a:t>Prioriser les canaux Courtier et Partenaire bancaire </a:t>
            </a:r>
            <a:r>
              <a:rPr lang="fr-FR" dirty="0"/>
              <a:t>pour améliorer la fidélisation.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523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420</Words>
  <Application>Microsoft Office PowerPoint</Application>
  <PresentationFormat>Widescreen</PresentationFormat>
  <Paragraphs>44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Pilotage Assurance 360</vt:lpstr>
      <vt:lpstr>Une compagnie d’assurance doit piloter croissance, rentabilité et risque</vt:lpstr>
      <vt:lpstr>Un modèle de données structuré autour des contrats, clients, produits et sinistres</vt:lpstr>
      <vt:lpstr>Le portefeuille affiche une performance globale rentable et maîtrisée</vt:lpstr>
      <vt:lpstr>Multirisque Professionnelle et Entreprise tirent la valeur, Auto et Santé concentrent le risque</vt:lpstr>
      <vt:lpstr>Les particuliers apportent du volume, mais nécessitent une surveillance renforcée</vt:lpstr>
      <vt:lpstr>Conakry domine la performance commerciale, avec Kaloum comme moteur principal</vt:lpstr>
      <vt:lpstr>Prioriser les produits, segments et canaux à forte valeur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Ousmane Tawel CAMARA</dc:creator>
  <cp:lastModifiedBy>Ousmane Tawel CAMARA</cp:lastModifiedBy>
  <cp:revision>10</cp:revision>
  <dcterms:created xsi:type="dcterms:W3CDTF">2026-05-20T13:17:47Z</dcterms:created>
  <dcterms:modified xsi:type="dcterms:W3CDTF">2026-05-20T15:06:01Z</dcterms:modified>
</cp:coreProperties>
</file>